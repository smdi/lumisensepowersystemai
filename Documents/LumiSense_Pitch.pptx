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LumiSense Grid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City Lighting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 ·  Snowflake Cortex  ·  Reinforcement Learning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Presentation  | 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731520"/>
            <a:ext cx="1097280" cy="109728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29B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132320" y="731520"/>
            <a:ext cx="1097280" cy="109728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9144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669280" y="2651760"/>
            <a:ext cx="1097280" cy="109728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83464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784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7132320" y="2651760"/>
            <a:ext cx="1097280" cy="109728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283464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040880" y="3794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766560" y="1280160"/>
            <a:ext cx="36576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6217920" y="1828800"/>
            <a:ext cx="0" cy="82296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7680960" y="1828800"/>
            <a:ext cx="0" cy="82296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24" name="Shape 17"/>
          <p:cNvSpPr/>
          <p:nvPr/>
        </p:nvSpPr>
        <p:spPr>
          <a:xfrm>
            <a:off x="6766560" y="3200400"/>
            <a:ext cx="36576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347472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051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across smart city infrastructure operate on </a:t>
            </a:r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defined by human intelligence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built on assumptions and estimated patterns.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4572000" cy="0"/>
          </a:xfrm>
          <a:prstGeom prst="line">
            <a:avLst/>
          </a:prstGeom>
          <a:noFill/>
          <a:ln w="6350">
            <a:solidFill>
              <a:srgbClr val="0369A1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humans, we inevitably miss the real behavioral patterns hidden inside continuous data streams.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4572000" cy="0"/>
          </a:xfrm>
          <a:prstGeom prst="line">
            <a:avLst/>
          </a:prstGeom>
          <a:noFill/>
          <a:ln w="6350">
            <a:solidFill>
              <a:srgbClr val="0369A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48640" y="27432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— between what humans assumed and what data actually reflects — results in </a:t>
            </a:r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energy waste and operational inefficiency.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914400"/>
            <a:ext cx="155448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914400"/>
            <a:ext cx="1554480" cy="6400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1500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Layer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406640" y="914400"/>
            <a:ext cx="155448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406640" y="914400"/>
            <a:ext cx="15544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09728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5236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Database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45236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Storage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669280" y="2560320"/>
            <a:ext cx="155448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669280" y="2560320"/>
            <a:ext cx="1554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432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715000" y="3291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715000" y="3611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Data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406640" y="2560320"/>
            <a:ext cx="155448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06640" y="2560320"/>
            <a:ext cx="1554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74320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52360" y="3291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452360" y="36118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Intelligence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223760" y="1645920"/>
            <a:ext cx="18288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223760" y="3291840"/>
            <a:ext cx="18288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46520" y="2377440"/>
            <a:ext cx="0" cy="18288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183880" y="2377440"/>
            <a:ext cx="0" cy="18288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0A1F35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Human-defined static rules cannot adapt to real-world behavioral patterns — this is the gap LumiSense closes.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64008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LumiSense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256032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1430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Microcontrollers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2880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real-time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data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36576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23160" y="1005840"/>
            <a:ext cx="1920240" cy="256032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23160" y="1005840"/>
            <a:ext cx="1920240" cy="73152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154680" y="1143000"/>
            <a:ext cx="457200" cy="45720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546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6916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688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468880" y="2880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continuous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streams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194560"/>
            <a:ext cx="36576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572000" y="1005840"/>
            <a:ext cx="1920240" cy="256032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0" y="1005840"/>
            <a:ext cx="1920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303520" y="11430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3035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69164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772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617720" y="2880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Redefines rules</a:t>
            </a:r>
            <a:endParaRPr lang="en-US" sz="9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194560"/>
            <a:ext cx="365760" cy="27432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720840" y="1005840"/>
            <a:ext cx="1920240" cy="256032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720840" y="1005840"/>
            <a:ext cx="19202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452360" y="11430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452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1691640"/>
            <a:ext cx="548640" cy="5486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76656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6766560" y="2880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brightness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274320" y="3794760"/>
            <a:ext cx="8595360" cy="1143000"/>
          </a:xfrm>
          <a:prstGeom prst="rect">
            <a:avLst/>
          </a:prstGeom>
          <a:solidFill>
            <a:srgbClr val="0A1F35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45720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LumiSense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self-improving infrastructure where IoT sensor streams feed Cortex, Cortex learns the real patterns, redefines the rules, and delivers measurable operational and financial impact — continuously.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182880"/>
            <a:ext cx="6400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182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&amp; Autonomous Rule Redefinition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389120" cy="402336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44475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3716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stream live environmental data into Snowflake continuously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1828800"/>
            <a:ext cx="0" cy="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2176272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" y="2103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observes usage patterns invisible to human analysis at this scale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2560320"/>
            <a:ext cx="0" cy="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457200" y="2880360"/>
            <a:ext cx="411480" cy="411480"/>
          </a:xfrm>
          <a:prstGeom prst="ellipse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907792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834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evaluates existing human-defined rules against what data proves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3291840"/>
            <a:ext cx="0" cy="274320"/>
          </a:xfrm>
          <a:prstGeom prst="line">
            <a:avLst/>
          </a:prstGeom>
          <a:noFill/>
          <a:ln w="10160">
            <a:solidFill>
              <a:srgbClr val="64748B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457200" y="3611880"/>
            <a:ext cx="411480" cy="4114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639312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5661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AI-defined policies override the human baseline — every cycle, sharper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937760" y="822960"/>
            <a:ext cx="3931920" cy="402336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12064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Mapping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029200" y="1371600"/>
            <a:ext cx="731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212080" y="13716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492240" y="13716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029200" y="1938528"/>
            <a:ext cx="73152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212080" y="19385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492240" y="19385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Lighting Grid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5029200" y="2505456"/>
            <a:ext cx="73152" cy="38404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212080" y="25054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6492240" y="25054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Value + Time of Day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029200" y="3072384"/>
            <a:ext cx="73152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212080" y="307238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6492240" y="30723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Level Set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5029200" y="3639312"/>
            <a:ext cx="73152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212080" y="36393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6492240" y="363931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Saved %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5029200" y="4206240"/>
            <a:ext cx="7315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212080" y="42062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6492240" y="42062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Redefined (3 days)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37160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182880"/>
            <a:ext cx="64008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182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&amp; Operational Insights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743200" cy="274320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27432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051560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1556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Analytics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2240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continuously measures energy consumption across all 20 IoT nodes — per light, per zone, per hour.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46120" y="868680"/>
            <a:ext cx="2743200" cy="274320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868680"/>
            <a:ext cx="2743200" cy="64008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97680" y="1051560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29B5E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1556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Quantification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83280" y="2240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AI-defined rule change is measured in dollars saved versus the original human-defined baseline.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217920" y="868680"/>
            <a:ext cx="2743200" cy="274320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86868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269480" y="1051560"/>
            <a:ext cx="640080" cy="640080"/>
          </a:xfrm>
          <a:prstGeom prst="ellipse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1556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1783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55080" y="224028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Snowsight dashboards surface CO2 savings, grid health, zone efficiency, and optimization history.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274320" y="3794760"/>
            <a:ext cx="1508760" cy="109728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74320" y="3794760"/>
            <a:ext cx="150876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74320" y="3886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274320" y="4389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Energy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011680" y="3794760"/>
            <a:ext cx="1508760" cy="109728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011680" y="3794760"/>
            <a:ext cx="1508760" cy="5486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011680" y="3886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2" name="Text 27"/>
          <p:cNvSpPr/>
          <p:nvPr/>
        </p:nvSpPr>
        <p:spPr>
          <a:xfrm>
            <a:off x="2011680" y="4389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Between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749040" y="3794760"/>
            <a:ext cx="1508760" cy="109728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3749040" y="3794760"/>
            <a:ext cx="1508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749040" y="3886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36" name="Text 31"/>
          <p:cNvSpPr/>
          <p:nvPr/>
        </p:nvSpPr>
        <p:spPr>
          <a:xfrm>
            <a:off x="3749040" y="4389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Nodes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5486400" y="3794760"/>
            <a:ext cx="1508760" cy="109728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5486400" y="3794760"/>
            <a:ext cx="1508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486400" y="3886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2600" dirty="0"/>
          </a:p>
        </p:txBody>
      </p:sp>
      <p:sp>
        <p:nvSpPr>
          <p:cNvPr id="40" name="Text 35"/>
          <p:cNvSpPr/>
          <p:nvPr/>
        </p:nvSpPr>
        <p:spPr>
          <a:xfrm>
            <a:off x="5486400" y="4389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7223760" y="3794760"/>
            <a:ext cx="1508760" cy="1097280"/>
          </a:xfrm>
          <a:prstGeom prst="rect">
            <a:avLst/>
          </a:prstGeom>
          <a:solidFill>
            <a:srgbClr val="0D1B2A"/>
          </a:solidFill>
          <a:ln w="635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7223760" y="3794760"/>
            <a:ext cx="1508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223760" y="3886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</a:t>
            </a:r>
            <a:endParaRPr lang="en-US" sz="2600" dirty="0"/>
          </a:p>
        </p:txBody>
      </p:sp>
      <p:sp>
        <p:nvSpPr>
          <p:cNvPr id="44" name="Text 39"/>
          <p:cNvSpPr/>
          <p:nvPr/>
        </p:nvSpPr>
        <p:spPr>
          <a:xfrm>
            <a:off x="7223760" y="43891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0"/>
            <a:ext cx="36576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4572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3716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LumiSense Grid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Snowflake Cortex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29260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4231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29260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9260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Streaming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29260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429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Rules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292608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9319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389120" y="457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4389120" y="1005840"/>
            <a:ext cx="6400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89120" y="114300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self-improving infrastructure layer — where continuously streaming IoT data feeds Cortex, Cortex learns the real patterns, redefines the rules, and delivers measurable operational and financial impact.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389120" y="2606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Roles. One Platform.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31089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1 —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— Cortex rewrites human rules with AI-learned policies.
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2 —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— Every decision quantified, visualized, and continuously improved.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89120" y="4526280"/>
            <a:ext cx="438912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452628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 ·  Reinforcement Learning  ·  IoT  ·  LumiSense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LumiSense — Snowflake Cortex Pitch</dc:title>
  <dc:subject>PptxGenJS Presentation</dc:subject>
  <dc:creator>PptxGenJS</dc:creator>
  <cp:lastModifiedBy>PptxGenJS</cp:lastModifiedBy>
  <cp:revision>1</cp:revision>
  <dcterms:created xsi:type="dcterms:W3CDTF">2026-03-13T05:23:19Z</dcterms:created>
  <dcterms:modified xsi:type="dcterms:W3CDTF">2026-03-13T05:23:19Z</dcterms:modified>
</cp:coreProperties>
</file>