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5" r:id="rId10"/>
    <p:sldId id="266" r:id="rId11"/>
    <p:sldId id="262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695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DF2EF-7BD1-B0FE-421A-5BFC2F1D8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7603EF-4BDF-6263-C174-D495E7984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A2264-1122-3E87-5485-8AB595852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5EB4E-5712-59CC-B941-7CC26CDA0D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211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754380"/>
            <a:ext cx="914400" cy="9144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845376"/>
            <a:ext cx="822960" cy="822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251460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LumiSense Grid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502920" y="3200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IoT Sensor Management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502920" y="36393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Snowflake Cortex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02920" y="4754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Competition Submission  |  2026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303520" y="731520"/>
            <a:ext cx="1188720" cy="1188720"/>
          </a:xfrm>
          <a:prstGeom prst="ellipse">
            <a:avLst/>
          </a:prstGeom>
          <a:solidFill>
            <a:srgbClr val="0B1929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992" y="96012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1208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5212080" y="22402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7040880" y="731520"/>
            <a:ext cx="1188720" cy="1188720"/>
          </a:xfrm>
          <a:prstGeom prst="ellipse">
            <a:avLst/>
          </a:prstGeom>
          <a:solidFill>
            <a:srgbClr val="0B1929"/>
          </a:solidFill>
          <a:ln w="19050">
            <a:solidFill>
              <a:srgbClr val="29B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96012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4944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DB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6949440" y="22402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5303520" y="2651760"/>
            <a:ext cx="1188720" cy="1188720"/>
          </a:xfrm>
          <a:prstGeom prst="ellipse">
            <a:avLst/>
          </a:prstGeom>
          <a:solidFill>
            <a:srgbClr val="0B1929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0992" y="2880360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1208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5212080" y="4160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optimization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7040880" y="2651760"/>
            <a:ext cx="1188720" cy="1188720"/>
          </a:xfrm>
          <a:prstGeom prst="ellipse">
            <a:avLst/>
          </a:prstGeom>
          <a:solidFill>
            <a:srgbClr val="0B1929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8352" y="2880360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4944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6949440" y="4160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Self-monitoring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6492240" y="1325880"/>
            <a:ext cx="548640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dash"/>
          </a:ln>
        </p:spPr>
      </p:sp>
      <p:sp>
        <p:nvSpPr>
          <p:cNvPr id="28" name="Shape 20"/>
          <p:cNvSpPr/>
          <p:nvPr/>
        </p:nvSpPr>
        <p:spPr>
          <a:xfrm>
            <a:off x="6492240" y="3246120"/>
            <a:ext cx="548640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dash"/>
          </a:ln>
        </p:spPr>
      </p:sp>
      <p:sp>
        <p:nvSpPr>
          <p:cNvPr id="29" name="Shape 21"/>
          <p:cNvSpPr/>
          <p:nvPr/>
        </p:nvSpPr>
        <p:spPr>
          <a:xfrm>
            <a:off x="5897880" y="1920240"/>
            <a:ext cx="0" cy="731520"/>
          </a:xfrm>
          <a:prstGeom prst="line">
            <a:avLst/>
          </a:prstGeom>
          <a:noFill/>
          <a:ln w="10160">
            <a:solidFill>
              <a:srgbClr val="475569"/>
            </a:solidFill>
            <a:prstDash val="dash"/>
          </a:ln>
        </p:spPr>
      </p:sp>
      <p:sp>
        <p:nvSpPr>
          <p:cNvPr id="30" name="Shape 22"/>
          <p:cNvSpPr/>
          <p:nvPr/>
        </p:nvSpPr>
        <p:spPr>
          <a:xfrm>
            <a:off x="7635240" y="1920240"/>
            <a:ext cx="0" cy="731520"/>
          </a:xfrm>
          <a:prstGeom prst="line">
            <a:avLst/>
          </a:prstGeom>
          <a:noFill/>
          <a:ln w="10160">
            <a:solidFill>
              <a:srgbClr val="475569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"/>
            <a:ext cx="14630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09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Old Castle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"/>
            <a:ext cx="8412480" cy="822960"/>
          </a:xfrm>
          <a:prstGeom prst="rect">
            <a:avLst/>
          </a:prstGeom>
          <a:solidFill>
            <a:srgbClr val="0D1A0A"/>
          </a:solidFill>
          <a:ln w="889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640080"/>
            <a:ext cx="73152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industries uses IoT sensors, operates hundreds of IoT sensors across its manufacturing floor — monitoring pressure, temperature, ambient light, motion, and power consumption. These sensors run on static, human-written rules and that is the core of the problem. Our client is one of them. we are going to solve this problem with the Snowflake Cortex 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2743200" cy="3200400"/>
          </a:xfrm>
          <a:prstGeom prst="rect">
            <a:avLst/>
          </a:prstGeom>
          <a:solidFill>
            <a:srgbClr val="0B1929"/>
          </a:solidFill>
          <a:ln w="889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0020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7320" y="1737360"/>
            <a:ext cx="640080" cy="64008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801368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Sensors Go Undetected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" y="2971800"/>
            <a:ext cx="252374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disconnected or frozen sensor keeps reporting stale data. No one knows until something breaks on the production line.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91840" y="1600200"/>
            <a:ext cx="2743200" cy="3200400"/>
          </a:xfrm>
          <a:prstGeom prst="rect">
            <a:avLst/>
          </a:prstGeom>
          <a:solidFill>
            <a:srgbClr val="0B1929"/>
          </a:solidFill>
          <a:ln w="889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91840" y="160020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43400" y="1737360"/>
            <a:ext cx="640080" cy="64008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801368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8328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 Waste Energy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401568" y="2971800"/>
            <a:ext cx="252374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written once based on assumptions — not on real behavioral patterns. Energy is wasted around the clock without intelligence.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217920" y="1600200"/>
            <a:ext cx="2560320" cy="3200400"/>
          </a:xfrm>
          <a:prstGeom prst="rect">
            <a:avLst/>
          </a:prstGeom>
          <a:solidFill>
            <a:srgbClr val="0B1929"/>
          </a:solidFill>
          <a:ln w="889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17920" y="1600200"/>
            <a:ext cx="2560320" cy="45719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269480" y="1737360"/>
            <a:ext cx="640080" cy="64008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182880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91072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Self-Improvement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327648" y="2971800"/>
            <a:ext cx="252374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environments change — shifts, seasons, load variation — the rules never adapt. Human re-tuning is slow, expensive, and always late.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solidFill>
            <a:srgbClr val="1A0505"/>
          </a:solidFill>
          <a:ln w="889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what humans assumed and what data proves — costs energy, reliability, and competitive advantage.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"/>
            <a:ext cx="146304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09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LumiSense — Cortex-Powered Sensor Intelligence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1965960" cy="3108960"/>
          </a:xfrm>
          <a:prstGeom prst="rect">
            <a:avLst/>
          </a:prstGeom>
          <a:solidFill>
            <a:srgbClr val="0B1929"/>
          </a:solidFill>
          <a:ln w="889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777240"/>
            <a:ext cx="19659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914400"/>
            <a:ext cx="530352" cy="5303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9144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572768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0040" y="22128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Stream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20040" y="265176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stream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</a:t>
            </a:r>
            <a:endParaRPr lang="en-US" sz="9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148840"/>
            <a:ext cx="320040" cy="25603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423160" y="777240"/>
            <a:ext cx="1965960" cy="3108960"/>
          </a:xfrm>
          <a:prstGeom prst="rect">
            <a:avLst/>
          </a:prstGeom>
          <a:solidFill>
            <a:srgbClr val="0B1929"/>
          </a:solidFill>
          <a:ln w="8890">
            <a:solidFill>
              <a:srgbClr val="29B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423160" y="777240"/>
            <a:ext cx="1965960" cy="64008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136392" y="914400"/>
            <a:ext cx="530352" cy="530352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136392" y="9144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6392" y="1572768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468880" y="22128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Ingests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2468880" y="265176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readings stored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organised 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tables</a:t>
            </a:r>
            <a:endParaRPr lang="en-US" sz="9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148840"/>
            <a:ext cx="320040" cy="25603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572000" y="777240"/>
            <a:ext cx="1965960" cy="3108960"/>
          </a:xfrm>
          <a:prstGeom prst="rect">
            <a:avLst/>
          </a:prstGeom>
          <a:solidFill>
            <a:srgbClr val="0B1929"/>
          </a:solidFill>
          <a:ln w="889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72000" y="777240"/>
            <a:ext cx="19659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285232" y="914400"/>
            <a:ext cx="530352" cy="5303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285232" y="9144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232" y="1572768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17720" y="22128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Analyzes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617720" y="265176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patterns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analysis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detect</a:t>
            </a:r>
            <a:endParaRPr lang="en-US" sz="95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48840"/>
            <a:ext cx="320040" cy="25603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720840" y="777240"/>
            <a:ext cx="1965960" cy="3108960"/>
          </a:xfrm>
          <a:prstGeom prst="rect">
            <a:avLst/>
          </a:prstGeom>
          <a:solidFill>
            <a:srgbClr val="0B1929"/>
          </a:solidFill>
          <a:ln w="889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720840" y="777240"/>
            <a:ext cx="196596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7434072" y="914400"/>
            <a:ext cx="530352" cy="5303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7434072" y="9144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4072" y="1572768"/>
            <a:ext cx="548640" cy="54864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766560" y="22128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Self-Update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6766560" y="265176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redefines rules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— no human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needed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274320" y="4023360"/>
            <a:ext cx="2011680" cy="685800"/>
          </a:xfrm>
          <a:prstGeom prst="rect">
            <a:avLst/>
          </a:prstGeom>
          <a:solidFill>
            <a:srgbClr val="0B1929"/>
          </a:solidFill>
          <a:ln w="889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Text 30"/>
          <p:cNvSpPr/>
          <p:nvPr/>
        </p:nvSpPr>
        <p:spPr>
          <a:xfrm>
            <a:off x="274320" y="4023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Communication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2468880" y="4023360"/>
            <a:ext cx="2011680" cy="685800"/>
          </a:xfrm>
          <a:prstGeom prst="rect">
            <a:avLst/>
          </a:prstGeom>
          <a:solidFill>
            <a:srgbClr val="0B1929"/>
          </a:solidFill>
          <a:ln w="889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Text 32"/>
          <p:cNvSpPr/>
          <p:nvPr/>
        </p:nvSpPr>
        <p:spPr>
          <a:xfrm>
            <a:off x="2468880" y="4023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Rewrites Human Rules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4663440" y="4023360"/>
            <a:ext cx="2011680" cy="685800"/>
          </a:xfrm>
          <a:prstGeom prst="rect">
            <a:avLst/>
          </a:prstGeom>
          <a:solidFill>
            <a:srgbClr val="0B1929"/>
          </a:solidFill>
          <a:ln w="889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Text 34"/>
          <p:cNvSpPr/>
          <p:nvPr/>
        </p:nvSpPr>
        <p:spPr>
          <a:xfrm>
            <a:off x="4663440" y="4023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Sensor Detection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6858000" y="4023360"/>
            <a:ext cx="2011680" cy="685800"/>
          </a:xfrm>
          <a:prstGeom prst="rect">
            <a:avLst/>
          </a:prstGeom>
          <a:solidFill>
            <a:srgbClr val="0B1929"/>
          </a:solidFill>
          <a:ln w="889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Text 36"/>
          <p:cNvSpPr/>
          <p:nvPr/>
        </p:nvSpPr>
        <p:spPr>
          <a:xfrm>
            <a:off x="6858000" y="4023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Intervention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"/>
            <a:ext cx="14630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09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Way vs New Way — The Cortex Difference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3931920" cy="438912"/>
          </a:xfrm>
          <a:prstGeom prst="rect">
            <a:avLst/>
          </a:prstGeom>
          <a:solidFill>
            <a:srgbClr val="200A00"/>
          </a:solidFill>
          <a:ln w="889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65836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Snowflake Cortex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658368"/>
            <a:ext cx="3931920" cy="438912"/>
          </a:xfrm>
          <a:prstGeom prst="rect">
            <a:avLst/>
          </a:prstGeom>
          <a:solidFill>
            <a:srgbClr val="002015"/>
          </a:solidFill>
          <a:ln w="889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65836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Snowflake Cortex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658368"/>
            <a:ext cx="457200" cy="42062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2560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188720"/>
            <a:ext cx="3931920" cy="566928"/>
          </a:xfrm>
          <a:prstGeom prst="rect">
            <a:avLst/>
          </a:prstGeom>
          <a:solidFill>
            <a:srgbClr val="0B1929"/>
          </a:solidFill>
          <a:ln w="889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44168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" y="126187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 written once by engineers, uses AI just for suggestions not for improvement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846320" y="1188720"/>
            <a:ext cx="3931920" cy="566928"/>
          </a:xfrm>
          <a:prstGeom prst="rect">
            <a:avLst/>
          </a:prstGeom>
          <a:solidFill>
            <a:srgbClr val="0B1929"/>
          </a:solidFill>
          <a:ln w="889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344168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57800" y="1261872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AI-defined rules updated daily from real data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65760" y="1847088"/>
            <a:ext cx="3931920" cy="566928"/>
          </a:xfrm>
          <a:prstGeom prst="rect">
            <a:avLst/>
          </a:prstGeom>
          <a:solidFill>
            <a:srgbClr val="080E18"/>
          </a:solidFill>
          <a:ln w="889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0253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960" y="192024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sensors go undetected for days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846320" y="1847088"/>
            <a:ext cx="3931920" cy="566928"/>
          </a:xfrm>
          <a:prstGeom prst="rect">
            <a:avLst/>
          </a:prstGeom>
          <a:solidFill>
            <a:srgbClr val="080E18"/>
          </a:solidFill>
          <a:ln w="889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00253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57800" y="192024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12 hours automated fault detection with alerts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65760" y="2505456"/>
            <a:ext cx="3931920" cy="566928"/>
          </a:xfrm>
          <a:prstGeom prst="rect">
            <a:avLst/>
          </a:prstGeom>
          <a:solidFill>
            <a:srgbClr val="0B1929"/>
          </a:solidFill>
          <a:ln w="889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6090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2960" y="257860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wasted on assumptions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846320" y="2505456"/>
            <a:ext cx="3931920" cy="566928"/>
          </a:xfrm>
          <a:prstGeom prst="rect">
            <a:avLst/>
          </a:prstGeom>
          <a:solidFill>
            <a:srgbClr val="0B1929"/>
          </a:solidFill>
          <a:ln w="889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660904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57800" y="257860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power optimization per sensor, per scenario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365760" y="3163824"/>
            <a:ext cx="3931920" cy="566928"/>
          </a:xfrm>
          <a:prstGeom prst="rect">
            <a:avLst/>
          </a:prstGeom>
          <a:solidFill>
            <a:srgbClr val="080E18"/>
          </a:solidFill>
          <a:ln w="889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19272"/>
            <a:ext cx="256032" cy="25603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22960" y="323697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re-tuning required after changes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4846320" y="3163824"/>
            <a:ext cx="3931920" cy="566928"/>
          </a:xfrm>
          <a:prstGeom prst="rect">
            <a:avLst/>
          </a:prstGeom>
          <a:solidFill>
            <a:srgbClr val="080E18"/>
          </a:solidFill>
          <a:ln w="889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319272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257800" y="3236976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— Cortex learns and adapts alone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365760" y="3822192"/>
            <a:ext cx="3931920" cy="566928"/>
          </a:xfrm>
          <a:prstGeom prst="rect">
            <a:avLst/>
          </a:prstGeom>
          <a:solidFill>
            <a:srgbClr val="0B1929"/>
          </a:solidFill>
          <a:ln w="889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77640"/>
            <a:ext cx="256032" cy="25603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22960" y="389534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pattern awareness across time</a:t>
            </a:r>
            <a:endParaRPr lang="en-US" sz="1050" dirty="0"/>
          </a:p>
        </p:txBody>
      </p:sp>
      <p:sp>
        <p:nvSpPr>
          <p:cNvPr id="40" name="Shape 29"/>
          <p:cNvSpPr/>
          <p:nvPr/>
        </p:nvSpPr>
        <p:spPr>
          <a:xfrm>
            <a:off x="4846320" y="3822192"/>
            <a:ext cx="3931920" cy="566928"/>
          </a:xfrm>
          <a:prstGeom prst="rect">
            <a:avLst/>
          </a:prstGeom>
          <a:solidFill>
            <a:srgbClr val="0B1929"/>
          </a:solidFill>
          <a:ln w="889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977640"/>
            <a:ext cx="256032" cy="256032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257800" y="3895344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rolling pattern analysis per scenario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"/>
            <a:ext cx="146304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09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Time &amp; Cost Does Cortex Save?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685800"/>
            <a:ext cx="1508760" cy="1920240"/>
          </a:xfrm>
          <a:prstGeom prst="rect">
            <a:avLst/>
          </a:prstGeom>
          <a:solidFill>
            <a:srgbClr val="0B1929"/>
          </a:solidFill>
          <a:ln w="8890">
            <a:solidFill>
              <a:srgbClr val="29B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685800"/>
            <a:ext cx="1508760" cy="64008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" y="15361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calls/day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queries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39112" y="685800"/>
            <a:ext cx="1508760" cy="1920240"/>
          </a:xfrm>
          <a:prstGeom prst="rect">
            <a:avLst/>
          </a:prstGeom>
          <a:solidFill>
            <a:srgbClr val="0B1929"/>
          </a:solidFill>
          <a:ln w="889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39112" y="685800"/>
            <a:ext cx="15087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7772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039112" y="15361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84832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decisions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Cortex daily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58184" y="685800"/>
            <a:ext cx="1508760" cy="1920240"/>
          </a:xfrm>
          <a:prstGeom prst="rect">
            <a:avLst/>
          </a:prstGeom>
          <a:solidFill>
            <a:srgbClr val="0B1929"/>
          </a:solidFill>
          <a:ln w="889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58184" y="685800"/>
            <a:ext cx="15087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58184" y="7772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3200" b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758184" y="15361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03904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energy saving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bright daylight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77256" y="685800"/>
            <a:ext cx="1508760" cy="1920240"/>
          </a:xfrm>
          <a:prstGeom prst="rect">
            <a:avLst/>
          </a:prstGeom>
          <a:solidFill>
            <a:srgbClr val="0B1929"/>
          </a:solidFill>
          <a:ln w="889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77256" y="685800"/>
            <a:ext cx="1508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77256" y="7772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hr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477256" y="15361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22976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fault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cycle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96328" y="685800"/>
            <a:ext cx="1508760" cy="1920240"/>
          </a:xfrm>
          <a:prstGeom prst="rect">
            <a:avLst/>
          </a:prstGeom>
          <a:solidFill>
            <a:srgbClr val="0B1929"/>
          </a:solidFill>
          <a:ln w="889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96328" y="685800"/>
            <a:ext cx="150876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96328" y="7772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196328" y="15361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42048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interventions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daily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2743200"/>
            <a:ext cx="8503920" cy="2103120"/>
          </a:xfrm>
          <a:prstGeom prst="rect">
            <a:avLst/>
          </a:prstGeom>
          <a:solidFill>
            <a:srgbClr val="0B1929"/>
          </a:solidFill>
          <a:ln w="889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Using Snowflake Cortex vs Manual Approach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" y="3246120"/>
            <a:ext cx="8412480" cy="457200"/>
          </a:xfrm>
          <a:prstGeom prst="rect">
            <a:avLst/>
          </a:prstGeom>
          <a:solidFill>
            <a:srgbClr val="0B1929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300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fault detection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17520" y="330098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24-48 hours (noticed after failure)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0" y="33009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12 hour (automated, hourly task)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749040"/>
            <a:ext cx="8412480" cy="457200"/>
          </a:xfrm>
          <a:prstGeom prst="rect">
            <a:avLst/>
          </a:prstGeom>
          <a:solidFill>
            <a:srgbClr val="080E18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039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rule re-tuning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017520" y="380390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days (engineer review cycle)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380390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 2AM (autonomous SP)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solidFill>
            <a:srgbClr val="0B1929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3068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optimization analysis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017520" y="430682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manual report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43600" y="43068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dashboard, 15min refresh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3200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017520" y="32004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Before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943600" y="32004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/ After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"/>
            <a:ext cx="146304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09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Measurable Impact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658368"/>
            <a:ext cx="2743200" cy="1965960"/>
          </a:xfrm>
          <a:prstGeom prst="rect">
            <a:avLst/>
          </a:prstGeom>
          <a:solidFill>
            <a:srgbClr val="0B1929"/>
          </a:solidFill>
          <a:ln w="889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658368"/>
            <a:ext cx="27432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795528"/>
            <a:ext cx="640080" cy="64008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22C55E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859536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1527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Saving &amp; experience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11480" y="19202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bright ambient conditions, Cortex reduces power to minimum safe level — automatically.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658368"/>
            <a:ext cx="2743200" cy="1965960"/>
          </a:xfrm>
          <a:prstGeom prst="rect">
            <a:avLst/>
          </a:prstGeom>
          <a:solidFill>
            <a:srgbClr val="0B1929"/>
          </a:solidFill>
          <a:ln w="889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658368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795528"/>
            <a:ext cx="640080" cy="64008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859536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37560" y="1527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12 Hour Fault Detection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3337560" y="19202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SP catches DEAD, FROZEN, NOISY, SILENT sensors before they corrupt production data.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72200" y="658368"/>
            <a:ext cx="2743200" cy="1965960"/>
          </a:xfrm>
          <a:prstGeom prst="rect">
            <a:avLst/>
          </a:prstGeom>
          <a:solidFill>
            <a:srgbClr val="0B1929"/>
          </a:solidFill>
          <a:ln w="889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72200" y="658368"/>
            <a:ext cx="27432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223760" y="795528"/>
            <a:ext cx="640080" cy="64008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0EA5E9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859536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63640" y="1527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Self-Optimization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263640" y="19202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rewritten every night at 2AM. No engineer. No manual review. Cortex does it all.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20040" y="2807208"/>
            <a:ext cx="2743200" cy="1965960"/>
          </a:xfrm>
          <a:prstGeom prst="rect">
            <a:avLst/>
          </a:prstGeom>
          <a:solidFill>
            <a:srgbClr val="0B1929"/>
          </a:solidFill>
          <a:ln w="889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20040" y="2807208"/>
            <a:ext cx="27432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371600" y="2944368"/>
            <a:ext cx="640080" cy="64008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3008376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11480" y="36758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Operational Dashboard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411480" y="40690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tiles. Real-time data. Cost saved, CO2 saved, zone health, sensor status — all live.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3246120" y="2807208"/>
            <a:ext cx="2743200" cy="1965960"/>
          </a:xfrm>
          <a:prstGeom prst="rect">
            <a:avLst/>
          </a:prstGeom>
          <a:solidFill>
            <a:srgbClr val="0B1929"/>
          </a:solidFill>
          <a:ln w="889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246120" y="2807208"/>
            <a:ext cx="27432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297680" y="2944368"/>
            <a:ext cx="640080" cy="64008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3008376"/>
            <a:ext cx="457200" cy="4572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337560" y="36758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Never Compromised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3337560" y="40690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guardrail system ensures brightness never falls below critical safety thresholds.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172200" y="2807208"/>
            <a:ext cx="2743200" cy="1965960"/>
          </a:xfrm>
          <a:prstGeom prst="rect">
            <a:avLst/>
          </a:prstGeom>
          <a:solidFill>
            <a:srgbClr val="0B1929"/>
          </a:solidFill>
          <a:ln w="8890">
            <a:solidFill>
              <a:srgbClr val="29B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172200" y="2807208"/>
            <a:ext cx="2743200" cy="64008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7223760" y="2944368"/>
            <a:ext cx="640080" cy="64008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29B5E8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3008376"/>
            <a:ext cx="457200" cy="4572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263640" y="36758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Snowflake Native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6263640" y="40690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SP, Task, Cortex, Snowsight — no external tools. Entire intelligence lives in Snowflake.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"/>
            <a:ext cx="1463040" cy="34747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09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Snowflake Cortex Powers LumiSense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658368"/>
            <a:ext cx="4160520" cy="4206240"/>
          </a:xfrm>
          <a:prstGeom prst="rect">
            <a:avLst/>
          </a:prstGeom>
          <a:solidFill>
            <a:srgbClr val="0B1929"/>
          </a:solidFill>
          <a:ln w="889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658368"/>
            <a:ext cx="41605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658368"/>
            <a:ext cx="137160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6583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7040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Autonomous Rule Redefinition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188720"/>
            <a:ext cx="64008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188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20240" y="11887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1737360"/>
            <a:ext cx="64008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7373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20240" y="17373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Grid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286000"/>
            <a:ext cx="64008" cy="411480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286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20240" y="22860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+ Hour of Day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2834640"/>
            <a:ext cx="64008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834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20240" y="2834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Level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383280"/>
            <a:ext cx="64008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383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920240" y="3383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Saved 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3931920"/>
            <a:ext cx="64008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931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Update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920240" y="39319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Rule Redefinition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658368"/>
            <a:ext cx="4160520" cy="4206240"/>
          </a:xfrm>
          <a:prstGeom prst="rect">
            <a:avLst/>
          </a:prstGeom>
          <a:solidFill>
            <a:srgbClr val="0B1929"/>
          </a:solidFill>
          <a:ln w="889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658368"/>
            <a:ext cx="416052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658368"/>
            <a:ext cx="1371600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6583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7040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Operational Insights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73168" y="1325880"/>
            <a:ext cx="457200" cy="457200"/>
          </a:xfrm>
          <a:prstGeom prst="ellipse">
            <a:avLst/>
          </a:prstGeom>
          <a:solidFill>
            <a:srgbClr val="111827"/>
          </a:solidFill>
          <a:ln w="15240">
            <a:solidFill>
              <a:srgbClr val="14B8A6"/>
            </a:solidFill>
            <a:prstDash val="solid"/>
          </a:ln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371600"/>
            <a:ext cx="320040" cy="32004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321808" y="1325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Analytics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321808" y="162763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measures consumption per sensor, per zone, per hour — continuously.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111827"/>
          </a:solidFill>
          <a:ln w="15240">
            <a:solidFill>
              <a:srgbClr val="22C55E"/>
            </a:solidFill>
            <a:prstDash val="solid"/>
          </a:ln>
        </p:spPr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560320"/>
            <a:ext cx="320040" cy="32004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5321808" y="2514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Quantification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5321808" y="281635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decision is tracked in USD saved vs the original human baseline.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4773168" y="3703320"/>
            <a:ext cx="457200" cy="457200"/>
          </a:xfrm>
          <a:prstGeom prst="ellipse">
            <a:avLst/>
          </a:prstGeom>
          <a:solidFill>
            <a:srgbClr val="111827"/>
          </a:solidFill>
          <a:ln w="15240">
            <a:solidFill>
              <a:srgbClr val="EF4444"/>
            </a:solidFill>
            <a:prstDash val="solid"/>
          </a:ln>
        </p:spPr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749040"/>
            <a:ext cx="320040" cy="32004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5321808" y="3703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5321808" y="400507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runs hourly diagnostics — DEAD, FROZEN, NOISY, SILENT sensors flagged.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"/>
            <a:ext cx="146304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09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Tools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658368"/>
            <a:ext cx="2011680" cy="4206240"/>
          </a:xfrm>
          <a:prstGeom prst="rect">
            <a:avLst/>
          </a:prstGeom>
          <a:solidFill>
            <a:srgbClr val="0B1929"/>
          </a:solidFill>
          <a:ln w="889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658368"/>
            <a:ext cx="20116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6583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LAYER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115568"/>
            <a:ext cx="1828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— Microcontroller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Sensor — Ambient light reading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— Actuator simulation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Serial — Physical bridge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658368"/>
            <a:ext cx="2011680" cy="4206240"/>
          </a:xfrm>
          <a:prstGeom prst="rect">
            <a:avLst/>
          </a:prstGeom>
          <a:solidFill>
            <a:srgbClr val="0B1929"/>
          </a:solidFill>
          <a:ln w="889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658368"/>
            <a:ext cx="201168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6583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LAYER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7752" y="1115568"/>
            <a:ext cx="1828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Serial ↔ Snowflake pipe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— Secure config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Cache — Rules stored locally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pyserial — Arduino comms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72584" y="658368"/>
            <a:ext cx="2011680" cy="4206240"/>
          </a:xfrm>
          <a:prstGeom prst="rect">
            <a:avLst/>
          </a:prstGeom>
          <a:solidFill>
            <a:srgbClr val="0B1929"/>
          </a:solidFill>
          <a:ln w="8890">
            <a:solidFill>
              <a:srgbClr val="29B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658368"/>
            <a:ext cx="2011680" cy="384048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6583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LAYER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64024" y="1115568"/>
            <a:ext cx="1828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LDR_GRID_DATA — Raw readings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LDR_LED_SCENARIO_RULES — AI rules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LDR_LED_OPTIMIZATION_LOG — Audit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SENSOR_HEALTH_LOG — Fault log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48856" y="658368"/>
            <a:ext cx="2011680" cy="4206240"/>
          </a:xfrm>
          <a:prstGeom prst="rect">
            <a:avLst/>
          </a:prstGeom>
          <a:solidFill>
            <a:srgbClr val="0B1929"/>
          </a:solidFill>
          <a:ln w="889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48856" y="658368"/>
            <a:ext cx="201168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48856" y="6583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+ INTELLIGENCE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0296" y="1115568"/>
            <a:ext cx="1828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CORTEX.COMPLETE (mistral-7b) — Decisions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— Daily optimization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 — 2AM + hourly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Snowsight — 20-tile live dashboard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828032"/>
            <a:ext cx="8503920" cy="246888"/>
          </a:xfrm>
          <a:prstGeom prst="rect">
            <a:avLst/>
          </a:prstGeom>
          <a:solidFill>
            <a:srgbClr val="0A0A1A"/>
          </a:solidFill>
          <a:ln w="8890">
            <a:solidFill>
              <a:srgbClr val="29B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connected to Snowflake via API Integration — every SQL push from GitHub auto-reflects in Snowflake on FETCH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"/>
            <a:ext cx="146304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09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Assumptions &amp; Risks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658368"/>
            <a:ext cx="5029200" cy="2331720"/>
          </a:xfrm>
          <a:prstGeom prst="rect">
            <a:avLst/>
          </a:prstGeom>
          <a:solidFill>
            <a:srgbClr val="0B1929"/>
          </a:solidFill>
          <a:ln w="889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731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243584"/>
            <a:ext cx="64008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39" y="1225296"/>
            <a:ext cx="419395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Imran - Hardware, Python Bridge, Snowflake Developer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144475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Arduino, Python bridge, Data pipeline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837944"/>
            <a:ext cx="64008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39" y="1819656"/>
            <a:ext cx="24743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Kumari - Snowflake Developer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03911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SP, Task scheduling, Git integration, sqlDBM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432304"/>
            <a:ext cx="64008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39" y="2414016"/>
            <a:ext cx="33819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Jyoti Chanda -Dashboard &amp; Analytics Developer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263347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Snowsight 20-tile dashboard, fact table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108960"/>
            <a:ext cx="5029200" cy="1737360"/>
          </a:xfrm>
          <a:prstGeom prst="rect">
            <a:avLst/>
          </a:prstGeom>
          <a:solidFill>
            <a:srgbClr val="0B1929"/>
          </a:solidFill>
          <a:ln w="889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1821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Risks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Trial account limits and limited credits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hallucination — mitigated by pre-filter + 6 safety guardrails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USB dependency — in production, would use WiFi/MQTT module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40680" y="658368"/>
            <a:ext cx="3383280" cy="4187952"/>
          </a:xfrm>
          <a:prstGeom prst="rect">
            <a:avLst/>
          </a:prstGeom>
          <a:solidFill>
            <a:srgbClr val="0B1929"/>
          </a:solidFill>
          <a:ln w="889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40680" y="658368"/>
            <a:ext cx="338328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7498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1170432"/>
            <a:ext cx="31546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1,000+ sensors across facility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WiFi module → full wireless IoT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temperature, pressure, motion sensors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Analyst for natural language queries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 via Slack / email on faults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Multi-facility deployment from one Snowflake account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0"/>
            <a:ext cx="36576" cy="5143500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5720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508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LumiSense Grid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7432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Snowflake Cortex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560320"/>
            <a:ext cx="3383280" cy="384048"/>
          </a:xfrm>
          <a:prstGeom prst="rect">
            <a:avLst/>
          </a:prstGeom>
          <a:solidFill>
            <a:srgbClr val="111827"/>
          </a:solidFill>
          <a:ln w="889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25603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3035808"/>
            <a:ext cx="3383280" cy="384048"/>
          </a:xfrm>
          <a:prstGeom prst="rect">
            <a:avLst/>
          </a:prstGeom>
          <a:solidFill>
            <a:srgbClr val="111827"/>
          </a:solidFill>
          <a:ln w="889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5760" y="30358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Intelligence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3511296"/>
            <a:ext cx="3383280" cy="384048"/>
          </a:xfrm>
          <a:prstGeom prst="rect">
            <a:avLst/>
          </a:prstGeom>
          <a:solidFill>
            <a:srgbClr val="111827"/>
          </a:solidFill>
          <a:ln w="8890">
            <a:solidFill>
              <a:srgbClr val="29B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65760" y="351129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Rule Rewriting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3986784"/>
            <a:ext cx="3383280" cy="384048"/>
          </a:xfrm>
          <a:prstGeom prst="rect">
            <a:avLst/>
          </a:prstGeom>
          <a:solidFill>
            <a:srgbClr val="111827"/>
          </a:solidFill>
          <a:ln w="889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65760" y="398678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Fault Detection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4462272"/>
            <a:ext cx="3383280" cy="384048"/>
          </a:xfrm>
          <a:prstGeom prst="rect">
            <a:avLst/>
          </a:prstGeom>
          <a:solidFill>
            <a:srgbClr val="111827"/>
          </a:solidFill>
          <a:ln w="889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65760" y="44622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Intervention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43400" y="457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4343400" y="105156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LumiSense is not just a smart lighting system.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proof that Snowflake Cortex can replace human-defined rules with AI-learned policies — continuously, autonomously, and safely.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Demo replace the LDR sensor with industrial sensors like IR sensor, pressure sensors,…etc., the architecture adapts to any scale.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architecture would govern hundreds of industrial sensors — detecting faults before they cost downtime, optimizing energy before humans even notice the waste, and improving itself every single day without a single manual intervention.</a:t>
            </a:r>
          </a:p>
        </p:txBody>
      </p:sp>
      <p:sp>
        <p:nvSpPr>
          <p:cNvPr id="21" name="Text 18"/>
          <p:cNvSpPr/>
          <p:nvPr/>
        </p:nvSpPr>
        <p:spPr>
          <a:xfrm>
            <a:off x="4343400" y="3520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Roles. One Platform. Snowflake Cortex.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343400" y="4069080"/>
            <a:ext cx="4480560" cy="777240"/>
          </a:xfrm>
          <a:prstGeom prst="rect">
            <a:avLst/>
          </a:prstGeom>
          <a:solidFill>
            <a:srgbClr val="0A1628"/>
          </a:solidFill>
          <a:ln w="8890">
            <a:solidFill>
              <a:srgbClr val="29B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434840" y="41148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1 — </a:t>
            </a: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Cortex helps in detecting the faulty sensors
</a:t>
            </a: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2 —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 — Every decision tracked, visualized, and continuously improved.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"/>
            <a:ext cx="14630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09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— Why LDR and LED?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8412480" cy="685800"/>
          </a:xfrm>
          <a:prstGeom prst="rect">
            <a:avLst/>
          </a:prstGeom>
          <a:solidFill>
            <a:srgbClr val="12100A"/>
          </a:solidFill>
          <a:ln w="889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658368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70408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 is to optimize a energy, find faulty sensors.  The exact same scenario can be used to any industries with IoT sensors. LDR = any sensor. LED = any actuator.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4023360" cy="3337560"/>
          </a:xfrm>
          <a:prstGeom prst="rect">
            <a:avLst/>
          </a:prstGeom>
          <a:solidFill>
            <a:srgbClr val="0B1929"/>
          </a:solidFill>
          <a:ln w="889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5361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Simulate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9659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sensor  →  Any industrial IoT sensor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brightness  →  Any actuator response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rule  →  Operational threshold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saving  →  Cost reduction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13  →  Daytime low-load scenario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LDR  →  Faulty production sensor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463040"/>
            <a:ext cx="4206240" cy="3337560"/>
          </a:xfrm>
          <a:prstGeom prst="rect">
            <a:avLst/>
          </a:prstGeom>
          <a:solidFill>
            <a:srgbClr val="0B1929"/>
          </a:solidFill>
          <a:ln w="8890">
            <a:solidFill>
              <a:srgbClr val="29B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5361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Cortex Does In Real-Time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196596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sensor stream → Snowflake every 90s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LDR + hour → Brightness rule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decision back to hardware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daily at 2AM → self-optimizes rules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hourly → detects sensor faults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everything in real-time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411ADF-B58C-63D1-B782-7DC440604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400149-FC27-408F-BC13-25820AE4AC13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A1D9F8F-CC0C-3D30-5438-5DF284C59E4C}"/>
              </a:ext>
            </a:extLst>
          </p:cNvPr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B8829F-F215-7AF3-FBA4-998520FCEEE5}"/>
              </a:ext>
            </a:extLst>
          </p:cNvPr>
          <p:cNvSpPr/>
          <p:nvPr/>
        </p:nvSpPr>
        <p:spPr>
          <a:xfrm>
            <a:off x="365760" y="1752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84F9ED2-57D0-12AA-FD6A-9E50709A3FC0}"/>
              </a:ext>
            </a:extLst>
          </p:cNvPr>
          <p:cNvSpPr/>
          <p:nvPr/>
        </p:nvSpPr>
        <p:spPr>
          <a:xfrm>
            <a:off x="548640" y="70408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61876B-E786-B911-480D-77F68C973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637" y="525325"/>
            <a:ext cx="6230726" cy="429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806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1237</Words>
  <Application>Microsoft Office PowerPoint</Application>
  <PresentationFormat>On-screen Show (16:9)</PresentationFormat>
  <Paragraphs>226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LumiSense Grid — Final Pitch</dc:title>
  <dc:subject>PptxGenJS Presentation</dc:subject>
  <dc:creator>PptxGenJS</dc:creator>
  <cp:lastModifiedBy>shaik mohammad imran</cp:lastModifiedBy>
  <cp:revision>40</cp:revision>
  <dcterms:created xsi:type="dcterms:W3CDTF">2026-03-20T10:23:34Z</dcterms:created>
  <dcterms:modified xsi:type="dcterms:W3CDTF">2026-03-23T05:20:25Z</dcterms:modified>
</cp:coreProperties>
</file>